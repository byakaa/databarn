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5620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9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0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0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8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0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40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2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64574" y="1896074"/>
            <a:ext cx="5936226" cy="212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5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 и ключевые задачи нагрузочного тестирования
</a:t>
            </a:r>
            <a:r>
              <a:rPr lang="en-US" sz="1364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Обеспечение стабильной, предсказуемой работы системы под любой нагрузкой
</a:t>
            </a:r>
            <a:endParaRPr lang="en-US" sz="3509" dirty="0"/>
          </a:p>
        </p:txBody>
      </p:sp>
      <p:sp>
        <p:nvSpPr>
          <p:cNvPr id="4" name="Text 1"/>
          <p:cNvSpPr txBox="1"/>
          <p:nvPr/>
        </p:nvSpPr>
        <p:spPr>
          <a:xfrm>
            <a:off x="5530646" y="4400550"/>
            <a:ext cx="2899528" cy="199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5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06" y="1696931"/>
            <a:ext cx="281700" cy="375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3626" y="1696931"/>
            <a:ext cx="328763" cy="37572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6516" y="1696931"/>
            <a:ext cx="375729" cy="37572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3776" y="3373331"/>
            <a:ext cx="375729" cy="37572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80143" y="3373331"/>
            <a:ext cx="375729" cy="375729"/>
          </a:xfrm>
          <a:prstGeom prst="rect">
            <a:avLst/>
          </a:prstGeom>
        </p:spPr>
      </p:pic>
      <p:sp>
        <p:nvSpPr>
          <p:cNvPr id="13" name="Text 0"/>
          <p:cNvSpPr txBox="1"/>
          <p:nvPr/>
        </p:nvSpPr>
        <p:spPr>
          <a:xfrm>
            <a:off x="428625" y="368710"/>
            <a:ext cx="7867342" cy="737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этапы нагрузочного тестирования
</a:t>
            </a:r>
            <a:endParaRPr lang="en-US" sz="3000" dirty="0"/>
          </a:p>
        </p:txBody>
      </p:sp>
      <p:sp>
        <p:nvSpPr>
          <p:cNvPr id="14" name="Text 1"/>
          <p:cNvSpPr txBox="1"/>
          <p:nvPr/>
        </p:nvSpPr>
        <p:spPr>
          <a:xfrm>
            <a:off x="8053387" y="4669824"/>
            <a:ext cx="703660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2"/>
          <p:cNvSpPr txBox="1"/>
          <p:nvPr/>
        </p:nvSpPr>
        <p:spPr>
          <a:xfrm>
            <a:off x="1285601" y="1695597"/>
            <a:ext cx="1619832" cy="104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 требований
</a:t>
            </a:r>
            <a:r>
              <a:rPr lang="en-US" sz="55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2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 целей тестирования и формальных требований для моделирования нагрузки, что является фундаментом для успешного проведения всего процесса.
</a:t>
            </a:r>
            <a:endParaRPr lang="en-US" sz="1200" dirty="0"/>
          </a:p>
        </p:txBody>
      </p:sp>
      <p:sp>
        <p:nvSpPr>
          <p:cNvPr id="16" name="Text 3"/>
          <p:cNvSpPr txBox="1"/>
          <p:nvPr/>
        </p:nvSpPr>
        <p:spPr>
          <a:xfrm>
            <a:off x="4095169" y="1695597"/>
            <a:ext cx="1619832" cy="104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3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данных и сценариев
</a:t>
            </a:r>
            <a:r>
              <a:rPr lang="en-US" sz="5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необходимых тестовых данных и разработка сценариев для эмуляции реальных условий эксплуатации системы.
</a:t>
            </a:r>
            <a:endParaRPr lang="en-US" sz="1235" dirty="0"/>
          </a:p>
        </p:txBody>
      </p:sp>
      <p:sp>
        <p:nvSpPr>
          <p:cNvPr id="17" name="Text 4"/>
          <p:cNvSpPr txBox="1"/>
          <p:nvPr/>
        </p:nvSpPr>
        <p:spPr>
          <a:xfrm>
            <a:off x="6912111" y="1695597"/>
            <a:ext cx="1619832" cy="104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6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 стенда
</a:t>
            </a:r>
            <a:r>
              <a:rPr lang="en-US" sz="53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89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и подготовка тестовой среды, обеспечивающей воспроизводимость и изоляцию тестирования от реальных систем.
</a:t>
            </a:r>
            <a:endParaRPr lang="en-US" sz="1160" dirty="0"/>
          </a:p>
        </p:txBody>
      </p:sp>
      <p:sp>
        <p:nvSpPr>
          <p:cNvPr id="18" name="Text 5"/>
          <p:cNvSpPr txBox="1"/>
          <p:nvPr/>
        </p:nvSpPr>
        <p:spPr>
          <a:xfrm>
            <a:off x="1285601" y="3362165"/>
            <a:ext cx="1619832" cy="104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Прогон тестов
</a:t>
            </a: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нагрузочных сценариев для оценки производительности системы при заданных условиях эксплуатации.
</a:t>
            </a:r>
            <a:endParaRPr lang="en-US" sz="1300" dirty="0"/>
          </a:p>
        </p:txBody>
      </p:sp>
      <p:sp>
        <p:nvSpPr>
          <p:cNvPr id="19" name="Text 6"/>
          <p:cNvSpPr txBox="1"/>
          <p:nvPr/>
        </p:nvSpPr>
        <p:spPr>
          <a:xfrm>
            <a:off x="4095169" y="3362165"/>
            <a:ext cx="1619832" cy="104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результатов
</a:t>
            </a:r>
            <a:r>
              <a:rPr lang="en-US" sz="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и интерпретация полученных данных с целью выявления узких мест и оценки соответствия требованиям.
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0" y="-53788"/>
            <a:ext cx="9144000" cy="514350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8053387" y="4669824"/>
            <a:ext cx="703660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1"/>
          <p:cNvSpPr txBox="1"/>
          <p:nvPr/>
        </p:nvSpPr>
        <p:spPr>
          <a:xfrm>
            <a:off x="428625" y="368710"/>
            <a:ext cx="7867342" cy="845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Позиция нагрузочного тестирования в QA-процессе
</a:t>
            </a: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Последовательность этапов тестирования в жизненном цикле разработки
</a:t>
            </a:r>
            <a:endParaRPr lang="en-US" sz="3000" dirty="0"/>
          </a:p>
        </p:txBody>
      </p:sp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219" y="1582764"/>
            <a:ext cx="8331111" cy="29896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837685"/>
            <a:ext cx="4486275" cy="2012226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053387" y="4669824"/>
            <a:ext cx="703660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1"/>
          <p:cNvSpPr txBox="1"/>
          <p:nvPr/>
        </p:nvSpPr>
        <p:spPr>
          <a:xfrm>
            <a:off x="428625" y="368710"/>
            <a:ext cx="7867342" cy="737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Причины начала нагрузочного тестирования после функционального
</a:t>
            </a:r>
            <a:endParaRPr lang="en-US" sz="3000" dirty="0"/>
          </a:p>
        </p:txBody>
      </p:sp>
      <p:sp>
        <p:nvSpPr>
          <p:cNvPr id="7" name="Text 2"/>
          <p:cNvSpPr txBox="1"/>
          <p:nvPr/>
        </p:nvSpPr>
        <p:spPr>
          <a:xfrm>
            <a:off x="5384167" y="1895475"/>
            <a:ext cx="3067051" cy="2599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отражает ключевые факторы, требующие корректной функциональности перед нагрузочными тестами
</a:t>
            </a:r>
            <a:r>
              <a:rPr lang="en-US" sz="1200" dirty="0">
                <a:solidFill>
                  <a:srgbClr val="9EB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Внутренние методологии QA
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419260" y="4371975"/>
            <a:ext cx="449641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55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Нагрузочное тестирование имеет смысл только на правильно работающей системе.
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8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28625" y="368710"/>
            <a:ext cx="7867342" cy="737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типы дефектов при нагрузочном тестировании
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8053387" y="4669824"/>
            <a:ext cx="703660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2"/>
          <p:cNvSpPr txBox="1"/>
          <p:nvPr/>
        </p:nvSpPr>
        <p:spPr>
          <a:xfrm>
            <a:off x="1568239" y="1504950"/>
            <a:ext cx="2446548" cy="1281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Увеличение времени отклика при росте числа пользователей, что приводит к деградации производительности и возникновению таймаутов.
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783052" y="1504950"/>
            <a:ext cx="2446548" cy="1281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Утечки памяти и ресурсов, которые вызывают OutOfMemoryError и исчерпание дескрипторов при длительной работе под нагрузкой.
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18121" y="3262313"/>
            <a:ext cx="2446548" cy="1281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Deadlock-и и состояния гонок при конкурентном доступе к ресурсам, приводящие к взаимоблокировкам и неработоспособности системы.
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832933" y="3262313"/>
            <a:ext cx="2446548" cy="1281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Исчерпание пулов соединений и потоков, медленные SQL-запросы и проблемы с кэшированием, вызывающие ухудшение отклика и сбои очередей.
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7413" y="1683322"/>
            <a:ext cx="4015579" cy="2350294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428625" y="368710"/>
            <a:ext cx="7867342" cy="737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Типичные точки отказа в архитектуре и ключевые метрики
</a:t>
            </a:r>
            <a:endParaRPr lang="en-US" sz="3000" dirty="0"/>
          </a:p>
        </p:txBody>
      </p:sp>
      <p:sp>
        <p:nvSpPr>
          <p:cNvPr id="7" name="Text 1"/>
          <p:cNvSpPr txBox="1"/>
          <p:nvPr/>
        </p:nvSpPr>
        <p:spPr>
          <a:xfrm>
            <a:off x="8053387" y="4669824"/>
            <a:ext cx="703660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Text 2"/>
          <p:cNvSpPr txBox="1"/>
          <p:nvPr/>
        </p:nvSpPr>
        <p:spPr>
          <a:xfrm>
            <a:off x="4186832" y="4422356"/>
            <a:ext cx="3477923" cy="384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9EB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CPU, RAM, I/O и сеть — главные показатели отказа компонентов.
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601265" y="1886113"/>
            <a:ext cx="2997995" cy="2599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 системы, характерные сбои и метрики для мониторинга
</a:t>
            </a:r>
            <a:r>
              <a:rPr lang="en-US" sz="1200" dirty="0">
                <a:solidFill>
                  <a:srgbClr val="005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поведения производственных систем
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540800"/>
            <a:ext cx="4486275" cy="260599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053387" y="4669824"/>
            <a:ext cx="703660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1"/>
          <p:cNvSpPr txBox="1"/>
          <p:nvPr/>
        </p:nvSpPr>
        <p:spPr>
          <a:xfrm>
            <a:off x="428625" y="368710"/>
            <a:ext cx="7867342" cy="737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метрики производительности по уровням системы
</a:t>
            </a:r>
            <a:endParaRPr lang="en-US" sz="3000" dirty="0"/>
          </a:p>
        </p:txBody>
      </p:sp>
      <p:sp>
        <p:nvSpPr>
          <p:cNvPr id="7" name="Text 2"/>
          <p:cNvSpPr txBox="1"/>
          <p:nvPr/>
        </p:nvSpPr>
        <p:spPr>
          <a:xfrm>
            <a:off x="5384167" y="1895475"/>
            <a:ext cx="3067051" cy="2599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приложений, баз данных, брокеров, ОС и пользовательские показатели для оценки
</a:t>
            </a:r>
            <a:r>
              <a:rPr lang="en-US" sz="1200" dirty="0">
                <a:solidFill>
                  <a:srgbClr val="9EB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комплексных систем
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419260" y="4371975"/>
            <a:ext cx="449641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55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Комплексный мониторинг определяет реальные узкие места.
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28625" y="368710"/>
            <a:ext cx="7867342" cy="737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 мониторинга при нагрузочном тестировании
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8053387" y="4669824"/>
            <a:ext cx="703660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2"/>
          <p:cNvSpPr txBox="1"/>
          <p:nvPr/>
        </p:nvSpPr>
        <p:spPr>
          <a:xfrm>
            <a:off x="592932" y="2724004"/>
            <a:ext cx="2286000" cy="1733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позволяет точно интерпретировать результаты и выявить конкретные узкие места в системе.
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436145" y="2724004"/>
            <a:ext cx="2286000" cy="1733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Обеспечивает разработчиков детальными метриками для быстрой диагностики и разработки решений.
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307932" y="2724004"/>
            <a:ext cx="2286000" cy="1733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мониторинга нагрузочное тестирование превращается в черный ящик без ясности причин замедлений.
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536435"/>
            <a:ext cx="8331111" cy="298967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8053387" y="4669824"/>
            <a:ext cx="703660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1"/>
          <p:cNvSpPr txBox="1"/>
          <p:nvPr/>
        </p:nvSpPr>
        <p:spPr>
          <a:xfrm>
            <a:off x="428625" y="368710"/>
            <a:ext cx="7867342" cy="845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выявления узких мест в нагрузочном тестировании
</a:t>
            </a: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Пошаговый процесс поиска ключевого ограничивающего ресурса системы
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436" y="1376975"/>
            <a:ext cx="2300479" cy="303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4336" y="1376975"/>
            <a:ext cx="2300479" cy="3039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428625" y="368710"/>
            <a:ext cx="7867200" cy="73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 симптомов проблем приложения (JVM/сервер)
</a:t>
            </a:r>
            <a:endParaRPr lang="en-US" sz="3000" dirty="0"/>
          </a:p>
        </p:txBody>
      </p:sp>
      <p:sp>
        <p:nvSpPr>
          <p:cNvPr id="9" name="Text 1"/>
          <p:cNvSpPr txBox="1"/>
          <p:nvPr/>
        </p:nvSpPr>
        <p:spPr>
          <a:xfrm>
            <a:off x="8053387" y="4669824"/>
            <a:ext cx="703800" cy="19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0" name="Text 2"/>
          <p:cNvSpPr txBox="1"/>
          <p:nvPr/>
        </p:nvSpPr>
        <p:spPr>
          <a:xfrm>
            <a:off x="2830275" y="1501575"/>
            <a:ext cx="1521600" cy="284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5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Перегрузка heap памяти и риск OutOfMemoryError
</a:t>
            </a:r>
            <a:r>
              <a:rPr lang="en-US" sz="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объём памяти heap превышает 90% даже после полного сборщика мусора (Full GC), это указывает на риск утечки памяти или предстоящий сбой из-за недостатка ресурсов. Необходим анализ и оптимизация потребления памяти.
</a:t>
            </a:r>
            <a:endParaRPr lang="en-US" sz="1200" dirty="0"/>
          </a:p>
        </p:txBody>
      </p:sp>
      <p:sp>
        <p:nvSpPr>
          <p:cNvPr id="11" name="Text 3"/>
          <p:cNvSpPr txBox="1"/>
          <p:nvPr/>
        </p:nvSpPr>
        <p:spPr>
          <a:xfrm>
            <a:off x="6990175" y="1501575"/>
            <a:ext cx="1521600" cy="284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5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Зависание пула потоков и утечка дескрипторов
</a:t>
            </a:r>
            <a:r>
              <a:rPr lang="en-US" sz="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полной загрузке пула потоков возникают очереди запросов, что замедляет отклик. Дополнительно утечка дескрипторов файлов и соединений приближает систему к лимитам ОС, что ведёт к ошибкам и отказам сервера.
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975" y="1479277"/>
            <a:ext cx="3967425" cy="227429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3650" y="1472027"/>
            <a:ext cx="3967425" cy="227429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428625" y="368710"/>
            <a:ext cx="7867342" cy="737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 симптомов: СУБД
</a:t>
            </a:r>
            <a:endParaRPr lang="en-US" sz="3000" dirty="0"/>
          </a:p>
        </p:txBody>
      </p:sp>
      <p:sp>
        <p:nvSpPr>
          <p:cNvPr id="9" name="Text 1"/>
          <p:cNvSpPr txBox="1"/>
          <p:nvPr/>
        </p:nvSpPr>
        <p:spPr>
          <a:xfrm>
            <a:off x="8053387" y="4669824"/>
            <a:ext cx="703660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10" name="Text 2"/>
          <p:cNvSpPr txBox="1"/>
          <p:nvPr/>
        </p:nvSpPr>
        <p:spPr>
          <a:xfrm>
            <a:off x="472840" y="3894060"/>
            <a:ext cx="3957300" cy="44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2" b="1" dirty="0">
                <a:solidFill>
                  <a:srgbClr val="005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Перегруженные соединения в базе данных
</a:t>
            </a:r>
            <a:r>
              <a:rPr lang="en-US" sz="401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72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количество активных соединений достигает максимума, новые запросы отклоняются. Такая ситуация приводит к сбоям в обработке и ухудшению общей производительности системы.
</a:t>
            </a:r>
            <a:endParaRPr lang="en-US" sz="962" dirty="0"/>
          </a:p>
        </p:txBody>
      </p:sp>
      <p:sp>
        <p:nvSpPr>
          <p:cNvPr id="11" name="Text 3"/>
          <p:cNvSpPr txBox="1"/>
          <p:nvPr/>
        </p:nvSpPr>
        <p:spPr>
          <a:xfrm>
            <a:off x="4723371" y="3894060"/>
            <a:ext cx="3957207" cy="44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2" b="1" dirty="0">
                <a:solidFill>
                  <a:srgbClr val="005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 задержка из-за дисковых операций
</a:t>
            </a:r>
            <a:r>
              <a:rPr lang="en-US" sz="401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72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Показатель I/O wait, превышающий 20%, указывает на существенные задержки в работе дисковой подсистемы. Это замедляет выполнение запросов и влияет на стабильность базы данных.
</a:t>
            </a:r>
            <a:endParaRPr lang="en-US" sz="96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436" y="1376975"/>
            <a:ext cx="2300479" cy="303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4336" y="1376975"/>
            <a:ext cx="2300479" cy="3039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428625" y="368710"/>
            <a:ext cx="7867200" cy="73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 симптомов: брокеры сообщений
</a:t>
            </a:r>
            <a:endParaRPr lang="en-US" sz="3000" dirty="0"/>
          </a:p>
        </p:txBody>
      </p:sp>
      <p:sp>
        <p:nvSpPr>
          <p:cNvPr id="9" name="Text 1"/>
          <p:cNvSpPr txBox="1"/>
          <p:nvPr/>
        </p:nvSpPr>
        <p:spPr>
          <a:xfrm>
            <a:off x="8053387" y="4669824"/>
            <a:ext cx="703800" cy="19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0" name="Text 2"/>
          <p:cNvSpPr txBox="1"/>
          <p:nvPr/>
        </p:nvSpPr>
        <p:spPr>
          <a:xfrm>
            <a:off x="2830275" y="1501575"/>
            <a:ext cx="1521600" cy="284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5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задержки потребителей сообщений
</a:t>
            </a:r>
            <a:r>
              <a:rPr lang="en-US" sz="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Постоянный рост consumer lag свидетельствует о том, что потребители не успевают обрабатывать поступающий поток. Это вызывает накопление сообщений в очереди и риск потерь.
</a:t>
            </a:r>
            <a:endParaRPr lang="en-US" sz="1200" dirty="0"/>
          </a:p>
        </p:txBody>
      </p:sp>
      <p:sp>
        <p:nvSpPr>
          <p:cNvPr id="11" name="Text 3"/>
          <p:cNvSpPr txBox="1"/>
          <p:nvPr/>
        </p:nvSpPr>
        <p:spPr>
          <a:xfrm>
            <a:off x="6990175" y="1501575"/>
            <a:ext cx="1521600" cy="284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5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 переполнения и потеря данных
</a:t>
            </a:r>
            <a:r>
              <a:rPr lang="en-US" sz="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размер очереди превышает 80% лимита, увеличивается вероятность её переполнения. Перегрузка каналов приводит к потере сообщений и снижению надёжности системы.
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975" y="1479277"/>
            <a:ext cx="3967425" cy="227429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3650" y="1472027"/>
            <a:ext cx="3967425" cy="227429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428625" y="368710"/>
            <a:ext cx="7867342" cy="737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 симптомов: инфраструктура (CPU, RAM, сеть, диск)
</a:t>
            </a:r>
            <a:endParaRPr lang="en-US" sz="3000" dirty="0"/>
          </a:p>
        </p:txBody>
      </p:sp>
      <p:sp>
        <p:nvSpPr>
          <p:cNvPr id="9" name="Text 1"/>
          <p:cNvSpPr txBox="1"/>
          <p:nvPr/>
        </p:nvSpPr>
        <p:spPr>
          <a:xfrm>
            <a:off x="8053387" y="4669824"/>
            <a:ext cx="703660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10" name="Text 2"/>
          <p:cNvSpPr txBox="1"/>
          <p:nvPr/>
        </p:nvSpPr>
        <p:spPr>
          <a:xfrm>
            <a:off x="472840" y="3894060"/>
            <a:ext cx="3957300" cy="44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43" b="1" dirty="0">
                <a:solidFill>
                  <a:srgbClr val="005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Нехватка вычислительных ресурсов CPU
</a:t>
            </a:r>
            <a:r>
              <a:rPr lang="en-US" sz="43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78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Длительная загрузка процессора выше 80% говорит о перегрузке вычислительных мощностей. Это вызывает рост времени отклика и падение пропускной способности.
</a:t>
            </a:r>
            <a:endParaRPr lang="en-US" sz="1043" dirty="0"/>
          </a:p>
        </p:txBody>
      </p:sp>
      <p:sp>
        <p:nvSpPr>
          <p:cNvPr id="11" name="Text 3"/>
          <p:cNvSpPr txBox="1"/>
          <p:nvPr/>
        </p:nvSpPr>
        <p:spPr>
          <a:xfrm>
            <a:off x="4723371" y="3894060"/>
            <a:ext cx="3957207" cy="44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2" b="1" dirty="0">
                <a:solidFill>
                  <a:srgbClr val="005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Перегрузка памяти и узкие места диска
</a:t>
            </a:r>
            <a:r>
              <a:rPr lang="en-US" sz="401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72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Использование RAM свыше 90% может привести к переходу в swap или сбоям. Также iowait более 20% указывает на то, что диск является узким местом, ограничивающим производительность.
</a:t>
            </a:r>
            <a:endParaRPr lang="en-US" sz="96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428625" y="368710"/>
            <a:ext cx="7867342" cy="737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требуются формализованные требования (SLA, SLO)
</a:t>
            </a:r>
            <a:endParaRPr lang="en-US" sz="3000" dirty="0"/>
          </a:p>
        </p:txBody>
      </p:sp>
      <p:sp>
        <p:nvSpPr>
          <p:cNvPr id="9" name="Text 1"/>
          <p:cNvSpPr txBox="1"/>
          <p:nvPr/>
        </p:nvSpPr>
        <p:spPr>
          <a:xfrm>
            <a:off x="6299883" y="2571751"/>
            <a:ext cx="2253665" cy="190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Фиксация конкретных показателей помогает мониторить стабильность системы и оперативно реагировать на отклонения в работе.
</a:t>
            </a:r>
            <a:endParaRPr lang="en-US" sz="1200" dirty="0"/>
          </a:p>
        </p:txBody>
      </p:sp>
      <p:sp>
        <p:nvSpPr>
          <p:cNvPr id="10" name="Text 2"/>
          <p:cNvSpPr txBox="1"/>
          <p:nvPr/>
        </p:nvSpPr>
        <p:spPr>
          <a:xfrm>
            <a:off x="8053387" y="4669824"/>
            <a:ext cx="703660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11" name="Text 3"/>
          <p:cNvSpPr txBox="1"/>
          <p:nvPr/>
        </p:nvSpPr>
        <p:spPr>
          <a:xfrm>
            <a:off x="634889" y="2571751"/>
            <a:ext cx="2253665" cy="190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Формализация нефункциональных требований позволяет объективно оценить соответствие системы ожиданиям пользователя и определить параметры её производительности.
</a:t>
            </a:r>
            <a:endParaRPr lang="en-US" sz="1200" dirty="0"/>
          </a:p>
        </p:txBody>
      </p:sp>
      <p:sp>
        <p:nvSpPr>
          <p:cNvPr id="12" name="Text 4"/>
          <p:cNvSpPr txBox="1"/>
          <p:nvPr/>
        </p:nvSpPr>
        <p:spPr>
          <a:xfrm>
            <a:off x="3478102" y="2571751"/>
            <a:ext cx="2253665" cy="190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чётких SLA и SLO невозможно удостовериться, что время отклика и пропускная способность отвечают техническим и бизнес-стандартам.
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428625" y="368710"/>
            <a:ext cx="7867342" cy="737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данных и помощь команды разработки
</a:t>
            </a:r>
            <a:endParaRPr lang="en-US" sz="3000" dirty="0"/>
          </a:p>
        </p:txBody>
      </p:sp>
      <p:sp>
        <p:nvSpPr>
          <p:cNvPr id="9" name="Text 1"/>
          <p:cNvSpPr txBox="1"/>
          <p:nvPr/>
        </p:nvSpPr>
        <p:spPr>
          <a:xfrm>
            <a:off x="8053387" y="4669824"/>
            <a:ext cx="703660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10" name="Text 2"/>
          <p:cNvSpPr txBox="1"/>
          <p:nvPr/>
        </p:nvSpPr>
        <p:spPr>
          <a:xfrm>
            <a:off x="577985" y="2571751"/>
            <a:ext cx="1772559" cy="190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репрезентативных тестовых данных критично для реалистичных нагрузочных сценариев и точного моделирования пользовательской активности.
</a:t>
            </a:r>
            <a:endParaRPr lang="en-US" sz="1200" dirty="0"/>
          </a:p>
        </p:txBody>
      </p:sp>
      <p:sp>
        <p:nvSpPr>
          <p:cNvPr id="11" name="Text 3"/>
          <p:cNvSpPr txBox="1"/>
          <p:nvPr/>
        </p:nvSpPr>
        <p:spPr>
          <a:xfrm>
            <a:off x="2814236" y="2571751"/>
            <a:ext cx="1772559" cy="190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актуальных сценариев требует детального понимания бизнес-логики и тонкостей работы приложения.
</a:t>
            </a:r>
            <a:endParaRPr lang="en-US" sz="1200" dirty="0"/>
          </a:p>
        </p:txBody>
      </p:sp>
      <p:sp>
        <p:nvSpPr>
          <p:cNvPr id="12" name="Text 4"/>
          <p:cNvSpPr txBox="1"/>
          <p:nvPr/>
        </p:nvSpPr>
        <p:spPr>
          <a:xfrm>
            <a:off x="5623990" y="1685875"/>
            <a:ext cx="2942026" cy="128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генерация данных невозможна без активного участия команды разработки, которая обеспечивает необходимую поддержку и консультации.
</a:t>
            </a:r>
            <a:endParaRPr lang="en-US" sz="1200" dirty="0"/>
          </a:p>
        </p:txBody>
      </p:sp>
      <p:sp>
        <p:nvSpPr>
          <p:cNvPr id="13" name="Text 5"/>
          <p:cNvSpPr txBox="1"/>
          <p:nvPr/>
        </p:nvSpPr>
        <p:spPr>
          <a:xfrm>
            <a:off x="5623990" y="3410084"/>
            <a:ext cx="2038270" cy="128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Сотрудничество с разработчиками помогает избежать неточностей и повысить реалистичность тестов, что улучшает качество результатов.
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428625" y="368710"/>
            <a:ext cx="7867342" cy="737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 инфраструктуры и настройка мониторинга
</a:t>
            </a:r>
            <a:endParaRPr lang="en-US" sz="3000" dirty="0"/>
          </a:p>
        </p:txBody>
      </p:sp>
      <p:sp>
        <p:nvSpPr>
          <p:cNvPr id="8" name="Text 1"/>
          <p:cNvSpPr txBox="1"/>
          <p:nvPr/>
        </p:nvSpPr>
        <p:spPr>
          <a:xfrm>
            <a:off x="8053387" y="4669824"/>
            <a:ext cx="703660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9" name="Text 2"/>
          <p:cNvSpPr txBox="1"/>
          <p:nvPr/>
        </p:nvSpPr>
        <p:spPr>
          <a:xfrm>
            <a:off x="976028" y="1678784"/>
            <a:ext cx="1931478" cy="250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Среда тестирования должна максимально соответствовать продуктивной, чтобы результаты были релевантными и воспроизводимыми.
</a:t>
            </a:r>
            <a:endParaRPr lang="en-US" sz="1200" dirty="0"/>
          </a:p>
        </p:txBody>
      </p:sp>
      <p:sp>
        <p:nvSpPr>
          <p:cNvPr id="10" name="Text 3"/>
          <p:cNvSpPr txBox="1"/>
          <p:nvPr/>
        </p:nvSpPr>
        <p:spPr>
          <a:xfrm>
            <a:off x="3779355" y="1678784"/>
            <a:ext cx="1931478" cy="250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Полноценная telemetry позволяет собирать метрики на всех уровнях: приложении, базе данных, брокерах и операционной системе.
</a:t>
            </a:r>
            <a:endParaRPr lang="en-US" sz="1200" dirty="0"/>
          </a:p>
        </p:txBody>
      </p:sp>
      <p:sp>
        <p:nvSpPr>
          <p:cNvPr id="11" name="Text 4"/>
          <p:cNvSpPr txBox="1"/>
          <p:nvPr/>
        </p:nvSpPr>
        <p:spPr>
          <a:xfrm>
            <a:off x="6582682" y="1678784"/>
            <a:ext cx="1931478" cy="250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Необходимы все права и доступы для детального анализа, настройки показателей и быстрого реагирования на инциденты во время тестов.
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28625" y="368710"/>
            <a:ext cx="7867342" cy="737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Особенности взаимодействия команд при тестировании
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8053387" y="4669824"/>
            <a:ext cx="703660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2"/>
          <p:cNvSpPr txBox="1"/>
          <p:nvPr/>
        </p:nvSpPr>
        <p:spPr>
          <a:xfrm>
            <a:off x="1568239" y="1504950"/>
            <a:ext cx="2446548" cy="1281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Эффективный обмен информацией обеспечивает быстрое выявление и анализ аномалий в работе системы.
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783052" y="1504950"/>
            <a:ext cx="2446548" cy="1281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логов, дампов и deadlock’ов требует совместных усилий тестировщиков и разработчиков для точной диагностики.
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18121" y="3262313"/>
            <a:ext cx="2446548" cy="1281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консолидированное взаимодействие всех команд обеспечивает объективные и достоверные результаты нагрузочного тестирования.
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832933" y="3262313"/>
            <a:ext cx="2446548" cy="1281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Налаженный диалог сокращает время на исправление ошибок и повышает качество конечного продукта.
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3461" y="1491249"/>
            <a:ext cx="4486275" cy="27051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053387" y="4669824"/>
            <a:ext cx="703660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1"/>
          <p:cNvSpPr txBox="1"/>
          <p:nvPr/>
        </p:nvSpPr>
        <p:spPr>
          <a:xfrm>
            <a:off x="428625" y="368710"/>
            <a:ext cx="7867342" cy="737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Изменения производительности и влияния новых релизов (бенчмарки)
</a:t>
            </a:r>
            <a:endParaRPr lang="en-US" sz="3000" dirty="0"/>
          </a:p>
        </p:txBody>
      </p:sp>
      <p:sp>
        <p:nvSpPr>
          <p:cNvPr id="7" name="Text 2"/>
          <p:cNvSpPr txBox="1"/>
          <p:nvPr/>
        </p:nvSpPr>
        <p:spPr>
          <a:xfrm>
            <a:off x="714683" y="1895475"/>
            <a:ext cx="3067051" cy="2599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 демонстрирует улучшение ключевых метрик после внедрения обновлений: снижение latency и ошибок, рост пропускной способности.
</a:t>
            </a:r>
            <a:r>
              <a:rPr lang="en-US" sz="1200" dirty="0">
                <a:solidFill>
                  <a:srgbClr val="9EB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Внутренние данные тестирования, 2024
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4264096" y="4371975"/>
            <a:ext cx="350323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91" dirty="0">
                <a:solidFill>
                  <a:srgbClr val="555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Регулярный мониторинг позволяет своевременно фиксировать регресс или улучшения и принимать обоснованные решения по релизам.
</a:t>
            </a:r>
            <a:endParaRPr lang="en-US" sz="119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28625" y="368710"/>
            <a:ext cx="7867342" cy="737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 отсутствия нагрузочного тестирования
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8053387" y="4669824"/>
            <a:ext cx="703660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2"/>
          <p:cNvSpPr txBox="1"/>
          <p:nvPr/>
        </p:nvSpPr>
        <p:spPr>
          <a:xfrm>
            <a:off x="592932" y="2724004"/>
            <a:ext cx="2286000" cy="1733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Падение производительности в продакшене приводит к серьёзным сбоям и ухудшает пользовательский опыт в критические периоды.
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436145" y="2724004"/>
            <a:ext cx="2286000" cy="1733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Отсутствие НТ вызывает регресс после релизов и лишает возможность своевременно выявить ухудшения в работе функций.
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307932" y="2724004"/>
            <a:ext cx="2286000" cy="1733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тестовой среды проблемы выявляются только клиентами, что подрывает доверие бизнеса и требует дорогостоящих исправлений.
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38049" y="1398735"/>
            <a:ext cx="6467903" cy="2346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34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Значимость нагрузочного тестирования в поддержке стабильности ИТ-систем
</a:t>
            </a:r>
            <a:r>
              <a:rPr lang="en-US" sz="1300" dirty="0">
                <a:solidFill>
                  <a:srgbClr val="9EB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Нагрузочное тестирование обеспечивает своевременное обнаружение и устранение проблем, гарантирует выполнение SLA и поддерживает доверие бизнеса, выступая фундаментом стабильной и производительной инфраструктуры.
</a:t>
            </a:r>
            <a:endParaRPr lang="en-US" sz="334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1165</Words>
  <Application>Microsoft Office PowerPoint</Application>
  <PresentationFormat>Экран (16:9)</PresentationFormat>
  <Paragraphs>104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2026-04-24T14:17:27Z</dcterms:created>
  <dcterms:modified xsi:type="dcterms:W3CDTF">2026-04-24T14:23:49Z</dcterms:modified>
</cp:coreProperties>
</file>